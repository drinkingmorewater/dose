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7200" b="1">
                <a:solidFill>
                  <a:srgbClr val="F0E9D6"/>
                </a:solidFill>
                <a:latin typeface="Microsoft YaHei"/>
              </a:rPr>
              <a:t>一  味  ·  D O S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000" b="0">
                <a:solidFill>
                  <a:srgbClr val="D4A574"/>
                </a:solidFill>
                <a:latin typeface="Microsoft YaHei"/>
              </a:rPr>
              <a:t>v 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800" b="0">
                <a:solidFill>
                  <a:srgbClr val="A4C3B2"/>
                </a:solidFill>
                <a:latin typeface="Microsoft YaHei"/>
              </a:rPr>
              <a:t>一 剂 音 律 ， 一 刻 治 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F0E9D6"/>
                </a:solidFill>
                <a:latin typeface="Microsoft YaHei"/>
              </a:rPr>
              <a:t>A dose of sound, a moment of 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A4C3B2"/>
                </a:solidFill>
                <a:latin typeface="Microsoft YaHei"/>
              </a:rPr>
              <a:t>腾讯音乐 AI Hackathon 2026  ·  创新音乐产品赛道  ·  by Damia</a:t>
            </a:r>
          </a:p>
        </p:txBody>
      </p:sp>
      <p:sp>
        <p:nvSpPr>
          <p:cNvPr id="8" name="Rounded Rectangle 7"/>
          <p:cNvSpPr/>
          <p:nvPr/>
        </p:nvSpPr>
        <p:spPr>
          <a:xfrm rot="21120000">
            <a:off x="10515600" y="548640"/>
            <a:ext cx="1097280" cy="1097280"/>
          </a:xfrm>
          <a:prstGeom prst="roundRect">
            <a:avLst/>
          </a:prstGeom>
          <a:noFill/>
          <a:ln w="31750">
            <a:solidFill>
              <a:srgbClr val="A1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000" lIns="0" rIns="0"/>
          <a:lstStyle/>
          <a:p>
            <a:pPr algn="ctr"/>
            <a:r>
              <a:rPr sz="1600" b="1">
                <a:solidFill>
                  <a:srgbClr val="A13D2D"/>
                </a:solidFill>
                <a:latin typeface="Microsoft YaHei"/>
              </a:rPr>
              <a:t>一味</a:t>
            </a:r>
            <a:br/>
            <a:r>
              <a:rPr sz="1600" b="1">
                <a:solidFill>
                  <a:srgbClr val="A13D2D"/>
                </a:solidFill>
                <a:latin typeface="Microsoft YaHei"/>
              </a:rPr>
              <a:t>DOSE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600" b="1">
                <a:solidFill>
                  <a:srgbClr val="F0E9D6"/>
                </a:solidFill>
                <a:latin typeface="Microsoft YaHei"/>
              </a:rPr>
              <a:t>为 什 么 是 现 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>
                <a:solidFill>
                  <a:srgbClr val="D4A574"/>
                </a:solidFill>
                <a:latin typeface="Microsoft YaHei"/>
              </a:rPr>
              <a:t>三 股 潮 水 正 在 交 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566160" cy="4023360"/>
          </a:xfrm>
          <a:prstGeom prst="roundRect">
            <a:avLst/>
          </a:prstGeom>
          <a:solidFill>
            <a:srgbClr val="2E4441"/>
          </a:solidFill>
          <a:ln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D4A574"/>
                </a:solidFill>
                <a:latin typeface="Microsoft YaHei"/>
              </a:rPr>
              <a:t>01  心理健康刚需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08960"/>
            <a:ext cx="3200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F0E9D6"/>
                </a:solidFill>
                <a:latin typeface="Microsoft YaHei"/>
              </a:rPr>
              <a:t>泛心理健康赛道高速增长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Calm/Headspace/潮汐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月活数千万级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但供给同质化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白噪音+雨声+海浪+钢琴慢曲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566160" cy="4023360"/>
          </a:xfrm>
          <a:prstGeom prst="roundRect">
            <a:avLst/>
          </a:prstGeom>
          <a:solidFill>
            <a:srgbClr val="2E4441"/>
          </a:solidFill>
          <a:ln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D4A574"/>
                </a:solidFill>
                <a:latin typeface="Microsoft YaHei"/>
              </a:rPr>
              <a:t>02  国潮文化势能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08960"/>
            <a:ext cx="3200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F0E9D6"/>
                </a:solidFill>
                <a:latin typeface="Microsoft YaHei"/>
              </a:rPr>
              <a:t>故宫文创 · 敦煌联名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新中式茶饮 · 汉服日常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国风从'看得见'走向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'听得见、感受得到'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B站五音疗愈视频破亿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94560"/>
            <a:ext cx="3566160" cy="4023360"/>
          </a:xfrm>
          <a:prstGeom prst="roundRect">
            <a:avLst/>
          </a:prstGeom>
          <a:solidFill>
            <a:srgbClr val="2E4441"/>
          </a:solidFill>
          <a:ln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377440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D4A574"/>
                </a:solidFill>
                <a:latin typeface="Microsoft YaHei"/>
              </a:rPr>
              <a:t>03  多模态 AI 成熟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108960"/>
            <a:ext cx="3200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F0E9D6"/>
                </a:solidFill>
                <a:latin typeface="Microsoft YaHei"/>
              </a:rPr>
              <a:t>Suno / Udio / MusicGen 已成熟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LLM 完成情绪识别+知识映射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TTS 自然度极高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三种 AI 能力第一次同时成熟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A4C3B2"/>
                </a:solidFill>
                <a:latin typeface="Microsoft YaHei"/>
              </a:rPr>
              <a:t>➜ 三股潮水交汇出空白象限：「文化叙事驱动的 AI 音乐疗愈」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600" b="1">
                <a:solidFill>
                  <a:srgbClr val="F0E9D6"/>
                </a:solidFill>
                <a:latin typeface="Microsoft YaHei"/>
              </a:rPr>
              <a:t>解 决 方 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>
                <a:solidFill>
                  <a:srgbClr val="D4A574"/>
                </a:solidFill>
                <a:latin typeface="Microsoft YaHei"/>
              </a:rPr>
              <a:t>v1.5 · AI 智 能 开 方 完 整 流 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606040" cy="3108960"/>
          </a:xfrm>
          <a:prstGeom prst="roundRect">
            <a:avLst/>
          </a:prstGeom>
          <a:solidFill>
            <a:srgbClr val="2E4441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D4A574"/>
                </a:solidFill>
                <a:latin typeface="Microsoft YaHei"/>
              </a:rPr>
              <a:t>自定义输入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860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>
                <a:solidFill>
                  <a:srgbClr val="F0E9D6"/>
                </a:solidFill>
                <a:latin typeface="Microsoft YaHei"/>
              </a:rPr>
              <a:t>用户描述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复杂混合情绪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'案牍劳形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夜不能寐'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3657600"/>
            <a:ext cx="182880" cy="365760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377440"/>
            <a:ext cx="2606040" cy="3108960"/>
          </a:xfrm>
          <a:prstGeom prst="roundRect">
            <a:avLst/>
          </a:prstGeom>
          <a:solidFill>
            <a:srgbClr val="2E4441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2286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D4A574"/>
                </a:solidFill>
                <a:latin typeface="Microsoft YaHei"/>
              </a:rPr>
              <a:t>AI 把脉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154680"/>
            <a:ext cx="22860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>
                <a:solidFill>
                  <a:srgbClr val="F0E9D6"/>
                </a:solidFill>
                <a:latin typeface="Microsoft YaHei"/>
              </a:rPr>
              <a:t>KEYWORD_MAP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8 大情绪识别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4 步加载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拆解-推演-匹配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80760" y="3657600"/>
            <a:ext cx="182880" cy="365760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59" y="2377440"/>
            <a:ext cx="2606040" cy="3108960"/>
          </a:xfrm>
          <a:prstGeom prst="roundRect">
            <a:avLst/>
          </a:prstGeom>
          <a:solidFill>
            <a:srgbClr val="2E4441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2286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D4A574"/>
                </a:solidFill>
                <a:latin typeface="Microsoft YaHei"/>
              </a:rPr>
              <a:t>双模式开方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22860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>
                <a:solidFill>
                  <a:srgbClr val="F0E9D6"/>
                </a:solidFill>
                <a:latin typeface="Microsoft YaHei"/>
              </a:rPr>
              <a:t>智能推送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直接给主方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──或──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自主选方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4 候选手动挑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61119" y="3657600"/>
            <a:ext cx="182880" cy="365760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89719" y="2377440"/>
            <a:ext cx="2606040" cy="3108960"/>
          </a:xfrm>
          <a:prstGeom prst="roundRect">
            <a:avLst/>
          </a:prstGeom>
          <a:solidFill>
            <a:srgbClr val="2E4441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599" y="2560320"/>
            <a:ext cx="2286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D4A574"/>
                </a:solidFill>
                <a:latin typeface="Microsoft YaHei"/>
              </a:rPr>
              <a:t>音方笺一体化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3154680"/>
            <a:ext cx="22860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>
                <a:solidFill>
                  <a:srgbClr val="F0E9D6"/>
                </a:solidFill>
                <a:latin typeface="Microsoft YaHei"/>
              </a:rPr>
              <a:t>处方扩容详解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剧场沉浸聆听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合音即兴衍生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三段 Tab 切换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A4C3B2"/>
                </a:solidFill>
                <a:latin typeface="Microsoft YaHei"/>
              </a:rPr>
              <a:t>✦  从一句话情绪输入，到沉浸式聆听+合鸣衍生，一气呵成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600" b="1">
                <a:solidFill>
                  <a:srgbClr val="F0E9D6"/>
                </a:solidFill>
                <a:latin typeface="Microsoft YaHei"/>
              </a:rPr>
              <a:t>产 品 形 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>
                <a:solidFill>
                  <a:srgbClr val="D4A574"/>
                </a:solidFill>
                <a:latin typeface="Microsoft YaHei"/>
              </a:rPr>
              <a:t>v1.5 · 严 格 4 屏 精 简  ·  开 方 为 默 认 首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606040" cy="3291840"/>
          </a:xfrm>
          <a:prstGeom prst="roundRect">
            <a:avLst/>
          </a:prstGeom>
          <a:solidFill>
            <a:srgbClr val="2E4441"/>
          </a:solidFill>
          <a:ln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2286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D4A574"/>
                </a:solidFill>
                <a:latin typeface="Microsoft YaHei"/>
              </a:rPr>
              <a:t>①  开方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46120"/>
            <a:ext cx="228600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F0E9D6"/>
                </a:solidFill>
                <a:latin typeface="Microsoft YaHei"/>
              </a:rPr>
              <a:t>默认首页 ★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AI 智能识别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双模式开方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8 大情绪标签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377440"/>
            <a:ext cx="2606040" cy="3291840"/>
          </a:xfrm>
          <a:prstGeom prst="roundRect">
            <a:avLst/>
          </a:prstGeom>
          <a:solidFill>
            <a:srgbClr val="2E4441"/>
          </a:solidFill>
          <a:ln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560320"/>
            <a:ext cx="2286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D4A574"/>
                </a:solidFill>
                <a:latin typeface="Microsoft YaHei"/>
              </a:rPr>
              <a:t>②  音方笺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246120"/>
            <a:ext cx="228600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F0E9D6"/>
                </a:solidFill>
                <a:latin typeface="Microsoft YaHei"/>
              </a:rPr>
              <a:t>三段式 Tab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处方扩容 4 段详解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剧场嵌入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合音衍生嵌入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377440"/>
            <a:ext cx="2606040" cy="3291840"/>
          </a:xfrm>
          <a:prstGeom prst="roundRect">
            <a:avLst/>
          </a:prstGeom>
          <a:solidFill>
            <a:srgbClr val="2E4441"/>
          </a:solidFill>
          <a:ln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2560320"/>
            <a:ext cx="2286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D4A574"/>
                </a:solidFill>
                <a:latin typeface="Microsoft YaHei"/>
              </a:rPr>
              <a:t>③  合音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3246120"/>
            <a:ext cx="228600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F0E9D6"/>
                </a:solidFill>
                <a:latin typeface="Microsoft YaHei"/>
              </a:rPr>
              <a:t>22 件世界乐器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4 大类 Tab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Hover 试听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AI 跨文化编曲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2377440"/>
            <a:ext cx="2606040" cy="3291840"/>
          </a:xfrm>
          <a:prstGeom prst="roundRect">
            <a:avLst/>
          </a:prstGeom>
          <a:solidFill>
            <a:srgbClr val="2E4441"/>
          </a:solidFill>
          <a:ln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2560320"/>
            <a:ext cx="2286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D4A574"/>
                </a:solidFill>
                <a:latin typeface="Microsoft YaHei"/>
              </a:rPr>
              <a:t>④  我的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46120"/>
            <a:ext cx="228600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F0E9D6"/>
                </a:solidFill>
                <a:latin typeface="Microsoft YaHei"/>
              </a:rPr>
              <a:t>推荐+登录合并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4 张今日精选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时辰贴士</a:t>
            </a:r>
          </a:p>
          <a:p>
            <a:r>
              <a:rPr sz="1300" b="0">
                <a:solidFill>
                  <a:srgbClr val="F0E9D6"/>
                </a:solidFill>
                <a:latin typeface="Microsoft YaHei"/>
              </a:rPr>
              <a:t>主题切换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A13D2D"/>
                </a:solidFill>
                <a:latin typeface="Microsoft YaHei"/>
              </a:rPr>
              <a:t>废除：v1.4 独立首页 Banner / 独立剧场页 / 独立登录页 — 严格精简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A4C3B2"/>
                </a:solidFill>
                <a:latin typeface="Microsoft YaHei"/>
              </a:rPr>
              <a:t>底部导航：📜 开方   🎴 音方笺   🎼 合音   🏮 我的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600" b="1">
                <a:solidFill>
                  <a:srgbClr val="F0E9D6"/>
                </a:solidFill>
                <a:latin typeface="Microsoft YaHei"/>
              </a:rPr>
              <a:t>v 1 . 5   五 大 革 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>
                <a:solidFill>
                  <a:srgbClr val="D4A574"/>
                </a:solidFill>
                <a:latin typeface="Microsoft YaHei"/>
              </a:rPr>
              <a:t>页 面 / 字 体 / 功 能 / 交 互 / 排 布   全 方 位 优 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566160" cy="2011680"/>
          </a:xfrm>
          <a:prstGeom prst="roundRect">
            <a:avLst/>
          </a:prstGeom>
          <a:solidFill>
            <a:srgbClr val="2E4441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D4A574"/>
                </a:solidFill>
                <a:latin typeface="Microsoft YaHei"/>
              </a:rPr>
              <a:t>①  4 屏精简层级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7744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A13D2D"/>
                </a:solidFill>
                <a:latin typeface="Microsoft YaHei"/>
              </a:rPr>
              <a:t>层级重构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32004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>
                <a:solidFill>
                  <a:srgbClr val="F0E9D6"/>
                </a:solidFill>
                <a:latin typeface="Microsoft YaHei"/>
              </a:rPr>
              <a:t>开方（首页）→ 音方笺 → 合音 → 我的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严格 4 屏 · 杜绝多余冗余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566160" cy="2011680"/>
          </a:xfrm>
          <a:prstGeom prst="roundRect">
            <a:avLst/>
          </a:prstGeom>
          <a:solidFill>
            <a:srgbClr val="2E4441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D4A574"/>
                </a:solidFill>
                <a:latin typeface="Microsoft YaHei"/>
              </a:rPr>
              <a:t>②  字体全局革新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37744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A13D2D"/>
                </a:solidFill>
                <a:latin typeface="Microsoft YaHei"/>
              </a:rPr>
              <a:t>视觉整改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71800"/>
            <a:ext cx="32004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>
                <a:solidFill>
                  <a:srgbClr val="F0E9D6"/>
                </a:solidFill>
                <a:latin typeface="Microsoft YaHei"/>
              </a:rPr>
              <a:t>删除魏碑棱角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主字体 ZCOOL XiaoWei（瘦金）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重标题 Noto Serif SC 900（小标宋）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566160" cy="2011680"/>
          </a:xfrm>
          <a:prstGeom prst="roundRect">
            <a:avLst/>
          </a:prstGeom>
          <a:solidFill>
            <a:srgbClr val="2E4441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37744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D4A574"/>
                </a:solidFill>
                <a:latin typeface="Microsoft YaHei"/>
              </a:rPr>
              <a:t>③  音方笺三段整合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237744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A13D2D"/>
                </a:solidFill>
                <a:latin typeface="Microsoft YaHei"/>
              </a:rPr>
              <a:t>一体化融合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971800"/>
            <a:ext cx="32004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>
                <a:solidFill>
                  <a:srgbClr val="F0E9D6"/>
                </a:solidFill>
                <a:latin typeface="Microsoft YaHei"/>
              </a:rPr>
              <a:t>处方扩容 + 剧场嵌入 + 合音衍生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废除独立剧场页 / 独立合音衍生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4389120"/>
            <a:ext cx="3566160" cy="2011680"/>
          </a:xfrm>
          <a:prstGeom prst="roundRect">
            <a:avLst/>
          </a:prstGeom>
          <a:solidFill>
            <a:srgbClr val="2E4441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457200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D4A574"/>
                </a:solidFill>
                <a:latin typeface="Microsoft YaHei"/>
              </a:rPr>
              <a:t>④  AI 智能开方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57200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A13D2D"/>
                </a:solidFill>
                <a:latin typeface="Microsoft YaHei"/>
              </a:rPr>
              <a:t>交互升级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166359"/>
            <a:ext cx="32004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>
                <a:solidFill>
                  <a:srgbClr val="F0E9D6"/>
                </a:solidFill>
                <a:latin typeface="Microsoft YaHei"/>
              </a:rPr>
              <a:t>自定义文本 + 8 大情绪识别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双模式：智能推送 / 自主选方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4389120"/>
            <a:ext cx="3566160" cy="2011680"/>
          </a:xfrm>
          <a:prstGeom prst="roundRect">
            <a:avLst/>
          </a:prstGeom>
          <a:solidFill>
            <a:srgbClr val="2E4441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457200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D4A574"/>
                </a:solidFill>
                <a:latin typeface="Microsoft YaHei"/>
              </a:rPr>
              <a:t>⑤  处方内容扩容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57200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A13D2D"/>
                </a:solidFill>
                <a:latin typeface="Microsoft YaHei"/>
              </a:rPr>
              <a:t>内容质感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5166359"/>
            <a:ext cx="32004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>
                <a:solidFill>
                  <a:srgbClr val="F0E9D6"/>
                </a:solidFill>
                <a:latin typeface="Microsoft YaHei"/>
              </a:rPr>
              <a:t>每方 ~400 字深度释义</a:t>
            </a:r>
          </a:p>
          <a:p>
            <a:r>
              <a:rPr sz="1200" b="0">
                <a:solidFill>
                  <a:srgbClr val="F0E9D6"/>
                </a:solidFill>
                <a:latin typeface="Microsoft YaHei"/>
              </a:rPr>
              <a:t>脉象详解 / 药性释义 / 服法详解 / 寄语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A4C3B2"/>
                </a:solidFill>
                <a:latin typeface="Microsoft YaHei"/>
              </a:rPr>
              <a:t>✓ V1.0–V1.4 全部资产完整保留：5 套配色 / 22 件乐器 / 双层音频架构 / 朱砂印章 / 立体竹简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600" b="1">
                <a:solidFill>
                  <a:srgbClr val="F0E9D6"/>
                </a:solidFill>
                <a:latin typeface="Microsoft YaHei"/>
              </a:rPr>
              <a:t>技 术 架 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>
                <a:solidFill>
                  <a:srgbClr val="D4A574"/>
                </a:solidFill>
                <a:latin typeface="Microsoft YaHei"/>
              </a:rPr>
              <a:t>双 层 音 频 架 构  ·  Demo 零 依 赖  ·  上 线 无 缝 替 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194560"/>
            <a:ext cx="3017520" cy="640080"/>
          </a:xfrm>
          <a:prstGeom prst="roundRect">
            <a:avLst/>
          </a:prstGeom>
          <a:solidFill>
            <a:srgbClr val="6B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33172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F0E9D6"/>
                </a:solidFill>
                <a:latin typeface="Microsoft YaHei"/>
              </a:rPr>
              <a:t>用户点击播放</a:t>
            </a:r>
          </a:p>
        </p:txBody>
      </p:sp>
      <p:sp>
        <p:nvSpPr>
          <p:cNvPr id="8" name="Diamond 7"/>
          <p:cNvSpPr/>
          <p:nvPr/>
        </p:nvSpPr>
        <p:spPr>
          <a:xfrm>
            <a:off x="4846320" y="3108960"/>
            <a:ext cx="2468880" cy="914400"/>
          </a:xfrm>
          <a:prstGeom prst="diamond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3291840"/>
            <a:ext cx="24688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2C2418"/>
                </a:solidFill>
                <a:latin typeface="Microsoft YaHei"/>
              </a:rPr>
              <a:t>AUDIO_REGISTRY</a:t>
            </a:r>
          </a:p>
          <a:p>
            <a:pPr algn="ctr"/>
            <a:r>
              <a:rPr sz="1100" b="1">
                <a:solidFill>
                  <a:srgbClr val="2C2418"/>
                </a:solidFill>
                <a:latin typeface="Microsoft YaHei"/>
              </a:rPr>
              <a:t>.has(id)?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572000"/>
            <a:ext cx="4114800" cy="1463040"/>
          </a:xfrm>
          <a:prstGeom prst="roundRect">
            <a:avLst/>
          </a:prstGeom>
          <a:solidFill>
            <a:srgbClr val="2E4441"/>
          </a:solidFill>
          <a:ln>
            <a:solidFill>
              <a:srgbClr val="A4C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709160"/>
            <a:ext cx="3749039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A4C3B2"/>
                </a:solidFill>
                <a:latin typeface="Microsoft YaHei"/>
              </a:rPr>
              <a:t>YES → 真实音频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212080"/>
            <a:ext cx="3749039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>
                <a:solidFill>
                  <a:srgbClr val="F0E9D6"/>
                </a:solidFill>
                <a:latin typeface="Microsoft YaHei"/>
              </a:rPr>
              <a:t>AudioContext.decodeAudioData()</a:t>
            </a:r>
          </a:p>
          <a:p>
            <a:r>
              <a:rPr sz="1100" b="0">
                <a:solidFill>
                  <a:srgbClr val="F0E9D6"/>
                </a:solidFill>
                <a:latin typeface="Microsoft YaHei"/>
              </a:rPr>
              <a:t>缓存 AudioBuffer</a:t>
            </a:r>
          </a:p>
          <a:p>
            <a:r>
              <a:rPr sz="1100" b="0">
                <a:solidFill>
                  <a:srgbClr val="F0E9D6"/>
                </a:solidFill>
                <a:latin typeface="Microsoft YaHei"/>
              </a:rPr>
              <a:t>顶部状态：「真实音频播放中」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572000"/>
            <a:ext cx="4114800" cy="1463040"/>
          </a:xfrm>
          <a:prstGeom prst="roundRect">
            <a:avLst/>
          </a:prstGeom>
          <a:solidFill>
            <a:srgbClr val="2E4441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709160"/>
            <a:ext cx="3749039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D4A574"/>
                </a:solidFill>
                <a:latin typeface="Microsoft YaHei"/>
              </a:rPr>
              <a:t>NO → 合成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212080"/>
            <a:ext cx="3749039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>
                <a:solidFill>
                  <a:srgbClr val="F0E9D6"/>
                </a:solidFill>
                <a:latin typeface="Microsoft YaHei"/>
              </a:rPr>
              <a:t>11 种音色算法</a:t>
            </a:r>
          </a:p>
          <a:p>
            <a:r>
              <a:rPr sz="1100" b="0">
                <a:solidFill>
                  <a:srgbClr val="F0E9D6"/>
                </a:solidFill>
                <a:latin typeface="Microsoft YaHei"/>
              </a:rPr>
              <a:t>Karplus-Strong / FM / 加性合成</a:t>
            </a:r>
          </a:p>
          <a:p>
            <a:r>
              <a:rPr sz="1100" b="0">
                <a:solidFill>
                  <a:srgbClr val="F0E9D6"/>
                </a:solidFill>
                <a:latin typeface="Microsoft YaHei"/>
              </a:rPr>
              <a:t>顶部状态：「合成音律播放中」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834640"/>
            <a:ext cx="0" cy="274320"/>
          </a:xfrm>
          <a:prstGeom prst="line">
            <a:avLst/>
          </a:prstGeom>
          <a:ln w="25400">
            <a:solidFill>
              <a:srgbClr val="A4C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429000" y="3657600"/>
            <a:ext cx="1417320" cy="914400"/>
          </a:xfrm>
          <a:prstGeom prst="line">
            <a:avLst/>
          </a:prstGeom>
          <a:ln w="25400">
            <a:solidFill>
              <a:srgbClr val="A4C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15200" y="3657600"/>
            <a:ext cx="1417320" cy="914400"/>
          </a:xfrm>
          <a:prstGeom prst="line">
            <a:avLst/>
          </a:prstGeom>
          <a:ln w="25400">
            <a:solidFill>
              <a:srgbClr val="A4C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0">
                <a:solidFill>
                  <a:srgbClr val="A4C3B2"/>
                </a:solidFill>
                <a:latin typeface="Microsoft YaHei"/>
              </a:rPr>
              <a:t>AudioRegistry.register(id, url) · registerBatch(obj) · 单首失败自动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600" b="1">
                <a:solidFill>
                  <a:srgbClr val="F0E9D6"/>
                </a:solidFill>
                <a:latin typeface="Microsoft YaHei"/>
              </a:rPr>
              <a:t>22 件 世 界 乐 器 谱 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>
                <a:solidFill>
                  <a:srgbClr val="D4A574"/>
                </a:solidFill>
                <a:latin typeface="Microsoft YaHei"/>
              </a:rPr>
              <a:t>中 华 6  ·  亚 洲 7  ·  世 界 5  ·  自 然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97480" cy="4023360"/>
          </a:xfrm>
          <a:prstGeom prst="roundRect">
            <a:avLst/>
          </a:prstGeom>
          <a:solidFill>
            <a:srgbClr val="2E4441"/>
          </a:solidFill>
          <a:ln w="25400">
            <a:solidFill>
              <a:srgbClr val="A1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377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A13D2D"/>
                </a:solidFill>
                <a:latin typeface="Microsoft YaHei"/>
              </a:rPr>
              <a:t>中  华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古筝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古琴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琵琶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洞箫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二胡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编钟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194560"/>
            <a:ext cx="2697480" cy="4023360"/>
          </a:xfrm>
          <a:prstGeom prst="roundRect">
            <a:avLst/>
          </a:prstGeom>
          <a:solidFill>
            <a:srgbClr val="2E4441"/>
          </a:solidFill>
          <a:ln w="254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377440"/>
            <a:ext cx="2377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D4A574"/>
                </a:solidFill>
                <a:latin typeface="Microsoft YaHei"/>
              </a:rPr>
              <a:t>亚  洲 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01752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尺八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42900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十三弦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84048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西塔琴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25196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塔布拉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66344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颂钵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507492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呼麦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548640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马头琴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2194560"/>
            <a:ext cx="2697480" cy="4023360"/>
          </a:xfrm>
          <a:prstGeom prst="roundRect">
            <a:avLst/>
          </a:prstGeom>
          <a:solidFill>
            <a:srgbClr val="2E4441"/>
          </a:solidFill>
          <a:ln w="25400">
            <a:solidFill>
              <a:srgbClr val="A4C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377440"/>
            <a:ext cx="2377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A4C3B2"/>
                </a:solidFill>
                <a:latin typeface="Microsoft YaHei"/>
              </a:rPr>
              <a:t>世  界 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01752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卡林巴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非洲鼓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84048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风笛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5196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排箫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6344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迪吉里杜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19" y="2194560"/>
            <a:ext cx="2697480" cy="4023360"/>
          </a:xfrm>
          <a:prstGeom prst="roundRect">
            <a:avLst/>
          </a:prstGeom>
          <a:solidFill>
            <a:srgbClr val="2E4441"/>
          </a:solidFill>
          <a:ln w="2540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599" y="2377440"/>
            <a:ext cx="2377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6B9080"/>
                </a:solidFill>
                <a:latin typeface="Microsoft YaHei"/>
              </a:rPr>
              <a:t>自  然 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599" y="301752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雨声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599" y="342900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溪流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599" y="384048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风吟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599" y="425196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F0E9D6"/>
                </a:solidFill>
                <a:latin typeface="Microsoft YaHei"/>
              </a:rPr>
              <a:t>·  风铃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400" b="1">
                <a:solidFill>
                  <a:srgbClr val="F0E9D6"/>
                </a:solidFill>
                <a:latin typeface="Microsoft YaHei"/>
              </a:rPr>
              <a:t>视 觉 系 统  ·  v1.5 字 体 革 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>
                <a:solidFill>
                  <a:srgbClr val="D4A574"/>
                </a:solidFill>
                <a:latin typeface="Microsoft YaHei"/>
              </a:rPr>
              <a:t>5 套 国 风 配 色  ·  瘦 金 + 小 标 宋   2 款 端 庄 字 体</a:t>
            </a:r>
          </a:p>
        </p:txBody>
      </p:sp>
      <p:sp>
        <p:nvSpPr>
          <p:cNvPr id="6" name="Oval 5"/>
          <p:cNvSpPr/>
          <p:nvPr/>
        </p:nvSpPr>
        <p:spPr>
          <a:xfrm>
            <a:off x="1188719" y="2194560"/>
            <a:ext cx="914400" cy="914400"/>
          </a:xfrm>
          <a:prstGeom prst="ellipse">
            <a:avLst/>
          </a:prstGeom>
          <a:solidFill>
            <a:srgbClr val="6B9080"/>
          </a:solidFill>
          <a:ln w="38100">
            <a:solidFill>
              <a:srgbClr val="A4C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F0E9D6"/>
                </a:solidFill>
                <a:latin typeface="Microsoft YaHei"/>
              </a:rPr>
              <a:t>青  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0">
                <a:solidFill>
                  <a:srgbClr val="A4C3B2"/>
                </a:solidFill>
                <a:latin typeface="Microsoft YaHei"/>
              </a:rPr>
              <a:t>龙泉青瓷釉色</a:t>
            </a:r>
          </a:p>
        </p:txBody>
      </p:sp>
      <p:sp>
        <p:nvSpPr>
          <p:cNvPr id="9" name="Oval 8"/>
          <p:cNvSpPr/>
          <p:nvPr/>
        </p:nvSpPr>
        <p:spPr>
          <a:xfrm>
            <a:off x="3520439" y="2194560"/>
            <a:ext cx="914400" cy="914400"/>
          </a:xfrm>
          <a:prstGeom prst="ellipse">
            <a:avLst/>
          </a:prstGeom>
          <a:solidFill>
            <a:srgbClr val="B06A5E"/>
          </a:solidFill>
          <a:ln w="38100">
            <a:solidFill>
              <a:srgbClr val="D4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329184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F0E9D6"/>
                </a:solidFill>
                <a:latin typeface="Microsoft YaHei"/>
              </a:rPr>
              <a:t>胭  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70332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0">
                <a:solidFill>
                  <a:srgbClr val="A4C3B2"/>
                </a:solidFill>
                <a:latin typeface="Microsoft YaHei"/>
              </a:rPr>
              <a:t>古法胭脂</a:t>
            </a:r>
          </a:p>
        </p:txBody>
      </p:sp>
      <p:sp>
        <p:nvSpPr>
          <p:cNvPr id="12" name="Oval 11"/>
          <p:cNvSpPr/>
          <p:nvPr/>
        </p:nvSpPr>
        <p:spPr>
          <a:xfrm>
            <a:off x="5852159" y="2194560"/>
            <a:ext cx="914400" cy="914400"/>
          </a:xfrm>
          <a:prstGeom prst="ellipse">
            <a:avLst/>
          </a:prstGeom>
          <a:solidFill>
            <a:srgbClr val="6C5B9E"/>
          </a:solidFill>
          <a:ln w="38100">
            <a:solidFill>
              <a:srgbClr val="9C8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329184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F0E9D6"/>
                </a:solidFill>
                <a:latin typeface="Microsoft YaHei"/>
              </a:rPr>
              <a:t>松  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370332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0">
                <a:solidFill>
                  <a:srgbClr val="A4C3B2"/>
                </a:solidFill>
                <a:latin typeface="Microsoft YaHei"/>
              </a:rPr>
              <a:t>松烟墨</a:t>
            </a:r>
          </a:p>
        </p:txBody>
      </p:sp>
      <p:sp>
        <p:nvSpPr>
          <p:cNvPr id="15" name="Oval 14"/>
          <p:cNvSpPr/>
          <p:nvPr/>
        </p:nvSpPr>
        <p:spPr>
          <a:xfrm>
            <a:off x="8183879" y="2194560"/>
            <a:ext cx="914400" cy="914400"/>
          </a:xfrm>
          <a:prstGeom prst="ellipse">
            <a:avLst/>
          </a:prstGeom>
          <a:solidFill>
            <a:srgbClr val="4A8A5E"/>
          </a:solidFill>
          <a:ln w="38100">
            <a:solidFill>
              <a:srgbClr val="7AB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329184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F0E9D6"/>
                </a:solidFill>
                <a:latin typeface="Microsoft YaHei"/>
              </a:rPr>
              <a:t>竹  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70332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0">
                <a:solidFill>
                  <a:srgbClr val="A4C3B2"/>
                </a:solidFill>
                <a:latin typeface="Microsoft YaHei"/>
              </a:rPr>
              <a:t>雨后竹林</a:t>
            </a:r>
          </a:p>
        </p:txBody>
      </p:sp>
      <p:sp>
        <p:nvSpPr>
          <p:cNvPr id="18" name="Oval 17"/>
          <p:cNvSpPr/>
          <p:nvPr/>
        </p:nvSpPr>
        <p:spPr>
          <a:xfrm>
            <a:off x="10515599" y="2194560"/>
            <a:ext cx="914400" cy="914400"/>
          </a:xfrm>
          <a:prstGeom prst="ellipse">
            <a:avLst/>
          </a:prstGeom>
          <a:solidFill>
            <a:srgbClr val="5A8094"/>
          </a:solidFill>
          <a:ln w="38100">
            <a:solidFill>
              <a:srgbClr val="86A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19" y="329184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F0E9D6"/>
                </a:solidFill>
                <a:latin typeface="Microsoft YaHei"/>
              </a:rPr>
              <a:t>黛  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19" y="370332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0">
                <a:solidFill>
                  <a:srgbClr val="A4C3B2"/>
                </a:solidFill>
                <a:latin typeface="Microsoft YaHei"/>
              </a:rPr>
              <a:t>米芾山水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D4A574"/>
                </a:solidFill>
                <a:latin typeface="Microsoft YaHei"/>
              </a:rPr>
              <a:t>v1.5 字 体 革 新  ·  从 5 款 → 2 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A13D2D"/>
                </a:solidFill>
                <a:latin typeface="Microsoft YaHei"/>
              </a:rPr>
              <a:t>❌ 删除（v1.4）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A4C3B2"/>
                </a:solidFill>
                <a:latin typeface="Microsoft YaHei"/>
              </a:rPr>
              <a:t>✅ 新增（v1.5）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>
                <a:solidFill>
                  <a:srgbClr val="F0E9D6"/>
                </a:solidFill>
                <a:latin typeface="Microsoft YaHei"/>
              </a:rPr>
              <a:t>·  魏碑体 ZCOOL QingKe HuangYou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12064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>
                <a:solidFill>
                  <a:srgbClr val="F0E9D6"/>
                </a:solidFill>
                <a:latin typeface="Microsoft YaHei"/>
              </a:rPr>
              <a:t>·  瘦金体风格 ZCOOL XiaoWei → 全局主字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40679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>
                <a:solidFill>
                  <a:srgbClr val="F0E9D6"/>
                </a:solidFill>
                <a:latin typeface="Microsoft YaHei"/>
              </a:rPr>
              <a:t>·  毛笔行书 Ma Shan Zheng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440679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>
                <a:solidFill>
                  <a:srgbClr val="F0E9D6"/>
                </a:solidFill>
                <a:latin typeface="Microsoft YaHei"/>
              </a:rPr>
              <a:t>·  端庄小标宋 Noto Serif SC 900 → 重标题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>
                <a:solidFill>
                  <a:srgbClr val="F0E9D6"/>
                </a:solidFill>
                <a:latin typeface="Microsoft YaHei"/>
              </a:rPr>
              <a:t>·  （已删 草书 Liu Jian Mao Cao）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76072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>
                <a:solidFill>
                  <a:srgbClr val="F0E9D6"/>
                </a:solidFill>
                <a:latin typeface="Microsoft YaHei"/>
              </a:rPr>
              <a:t>·  英文 Cormorant Garamond → 保持衬线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3600" b="1">
                <a:solidFill>
                  <a:srgbClr val="F0E9D6"/>
                </a:solidFill>
                <a:latin typeface="Microsoft YaHei"/>
              </a:rPr>
              <a:t>商 业 价 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>
                <a:solidFill>
                  <a:srgbClr val="D4A574"/>
                </a:solidFill>
                <a:latin typeface="Microsoft YaHei"/>
              </a:rPr>
              <a:t>四 条 变 现 路 径  ·  独 占 空 白 象 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D4A574"/>
                </a:solidFill>
                <a:latin typeface="Microsoft YaHei"/>
              </a:rPr>
              <a:t>变 现 路 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A4C3B2"/>
                </a:solidFill>
                <a:latin typeface="Microsoft YaHei"/>
              </a:rPr>
              <a:t>①  订阅会员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>
                <a:solidFill>
                  <a:srgbClr val="F0E9D6"/>
                </a:solidFill>
                <a:latin typeface="Microsoft YaHei"/>
              </a:rPr>
              <a:t>月度音方推送 / 高级合鸣 / 解锁全部音色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A4C3B2"/>
                </a:solidFill>
                <a:latin typeface="Microsoft YaHei"/>
              </a:rPr>
              <a:t>②  文化品牌联名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>
                <a:solidFill>
                  <a:srgbClr val="F0E9D6"/>
                </a:solidFill>
                <a:latin typeface="Microsoft YaHei"/>
              </a:rPr>
              <a:t>故宫 / 敦煌 / 苏博 / 中医 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A4C3B2"/>
                </a:solidFill>
                <a:latin typeface="Microsoft YaHei"/>
              </a:rPr>
              <a:t>③  数字藏品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>
                <a:solidFill>
                  <a:srgbClr val="F0E9D6"/>
                </a:solidFill>
                <a:latin typeface="Microsoft YaHei"/>
              </a:rPr>
              <a:t>音方 NFT / 限定合鸣作品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A4C3B2"/>
                </a:solidFill>
                <a:latin typeface="Microsoft YaHei"/>
              </a:rPr>
              <a:t>④  B 端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0">
                <a:solidFill>
                  <a:srgbClr val="F0E9D6"/>
                </a:solidFill>
                <a:latin typeface="Microsoft YaHei"/>
              </a:rPr>
              <a:t>酒店 / SPA / 心理咨询 / 冥想机构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D4A574"/>
                </a:solidFill>
                <a:latin typeface="Microsoft YaHei"/>
              </a:rPr>
              <a:t>竞 品 独 占 象 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743200"/>
            <a:ext cx="1280160" cy="502920"/>
          </a:xfrm>
          <a:prstGeom prst="rect">
            <a:avLst/>
          </a:prstGeom>
          <a:solidFill>
            <a:srgbClr val="2E4441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834640"/>
            <a:ext cx="118871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0E9D6"/>
                </a:solidFill>
                <a:latin typeface="Microsoft YaHei"/>
              </a:rPr>
              <a:t>产品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743200"/>
            <a:ext cx="868680" cy="502920"/>
          </a:xfrm>
          <a:prstGeom prst="rect">
            <a:avLst/>
          </a:prstGeom>
          <a:solidFill>
            <a:srgbClr val="2E4441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283464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0E9D6"/>
                </a:solidFill>
                <a:latin typeface="Microsoft YaHei"/>
              </a:rPr>
              <a:t>文化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2743200"/>
            <a:ext cx="868680" cy="502920"/>
          </a:xfrm>
          <a:prstGeom prst="rect">
            <a:avLst/>
          </a:prstGeom>
          <a:solidFill>
            <a:srgbClr val="2E4441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83464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0E9D6"/>
                </a:solidFill>
                <a:latin typeface="Microsoft YaHei"/>
              </a:rPr>
              <a:t>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2743200"/>
            <a:ext cx="1097280" cy="502920"/>
          </a:xfrm>
          <a:prstGeom prst="rect">
            <a:avLst/>
          </a:prstGeom>
          <a:solidFill>
            <a:srgbClr val="2E4441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834640"/>
            <a:ext cx="100583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0E9D6"/>
                </a:solidFill>
                <a:latin typeface="Microsoft YaHei"/>
              </a:rPr>
              <a:t>用户体系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2743200"/>
            <a:ext cx="1371600" cy="502920"/>
          </a:xfrm>
          <a:prstGeom prst="rect">
            <a:avLst/>
          </a:prstGeom>
          <a:solidFill>
            <a:srgbClr val="2E4441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61320" y="2834640"/>
            <a:ext cx="12801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0E9D6"/>
                </a:solidFill>
                <a:latin typeface="Microsoft YaHei"/>
              </a:rPr>
              <a:t>内容深度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246120"/>
            <a:ext cx="128016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337560"/>
            <a:ext cx="118871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Calm/Headspace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3246120"/>
            <a:ext cx="86868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333756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3246120"/>
            <a:ext cx="86868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333756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0" y="3246120"/>
            <a:ext cx="109728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3337560"/>
            <a:ext cx="100583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0" y="3246120"/>
            <a:ext cx="137160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61320" y="3337560"/>
            <a:ext cx="12801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749039"/>
            <a:ext cx="128016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840479"/>
            <a:ext cx="118871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潮汐/Now 冥想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3749039"/>
            <a:ext cx="86868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6680" y="3840479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3749039"/>
            <a:ext cx="86868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3840479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3749039"/>
            <a:ext cx="109728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64040" y="3840479"/>
            <a:ext cx="100583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15600" y="3749039"/>
            <a:ext cx="137160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61320" y="3840479"/>
            <a:ext cx="12801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251960"/>
            <a:ext cx="128016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343400"/>
            <a:ext cx="118871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Endel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4251960"/>
            <a:ext cx="86868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26680" y="434340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49640" y="4251960"/>
            <a:ext cx="86868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434340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18320" y="4251960"/>
            <a:ext cx="109728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64040" y="4343400"/>
            <a:ext cx="100583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15600" y="4251960"/>
            <a:ext cx="1371600" cy="502920"/>
          </a:xfrm>
          <a:prstGeom prst="rect">
            <a:avLst/>
          </a:prstGeom>
          <a:solidFill>
            <a:srgbClr val="1A2A28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61320" y="4343400"/>
            <a:ext cx="12801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0E9D6"/>
                </a:solidFill>
                <a:latin typeface="Microsoft YaHei"/>
              </a:rPr>
              <a:t>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754880"/>
            <a:ext cx="1280160" cy="502920"/>
          </a:xfrm>
          <a:prstGeom prst="rect">
            <a:avLst/>
          </a:prstGeom>
          <a:solidFill>
            <a:srgbClr val="A13D2D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846320"/>
            <a:ext cx="118871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0E9D6"/>
                </a:solidFill>
                <a:latin typeface="Microsoft YaHei"/>
              </a:rPr>
              <a:t>一味 Dose v1.5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0" y="4754880"/>
            <a:ext cx="868680" cy="502920"/>
          </a:xfrm>
          <a:prstGeom prst="rect">
            <a:avLst/>
          </a:prstGeom>
          <a:solidFill>
            <a:srgbClr val="A13D2D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26680" y="484632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0E9D6"/>
                </a:solidFill>
                <a:latin typeface="Microsoft YaHei"/>
              </a:rPr>
              <a:t>强 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49640" y="4754880"/>
            <a:ext cx="868680" cy="502920"/>
          </a:xfrm>
          <a:prstGeom prst="rect">
            <a:avLst/>
          </a:prstGeom>
          <a:solidFill>
            <a:srgbClr val="A13D2D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0" y="4846320"/>
            <a:ext cx="777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0E9D6"/>
                </a:solidFill>
                <a:latin typeface="Microsoft YaHei"/>
              </a:rPr>
              <a:t>强 ✦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18320" y="4754880"/>
            <a:ext cx="1097280" cy="502920"/>
          </a:xfrm>
          <a:prstGeom prst="rect">
            <a:avLst/>
          </a:prstGeom>
          <a:solidFill>
            <a:srgbClr val="A13D2D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64040" y="4846320"/>
            <a:ext cx="100583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0E9D6"/>
                </a:solidFill>
                <a:latin typeface="Microsoft YaHei"/>
              </a:rPr>
              <a:t>完整 ✦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15600" y="4754880"/>
            <a:ext cx="1371600" cy="502920"/>
          </a:xfrm>
          <a:prstGeom prst="rect">
            <a:avLst/>
          </a:prstGeom>
          <a:solidFill>
            <a:srgbClr val="A13D2D"/>
          </a:solidFill>
          <a:ln w="9525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61320" y="4846320"/>
            <a:ext cx="12801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0E9D6"/>
                </a:solidFill>
                <a:latin typeface="Microsoft YaHei"/>
              </a:rPr>
              <a:t>400 字/方 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8521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1">
                <a:solidFill>
                  <a:srgbClr val="A4C3B2"/>
                </a:solidFill>
                <a:latin typeface="Microsoft YaHei"/>
              </a:rPr>
              <a:t>➜ 文化叙事 + 强 AI + 完整用户体系 + 内容深度，四轴皆领先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7200" b="1">
                <a:solidFill>
                  <a:srgbClr val="F0E9D6"/>
                </a:solidFill>
                <a:latin typeface="Microsoft YaHei"/>
              </a:rPr>
              <a:t>一 剂 音 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7200" b="1">
                <a:solidFill>
                  <a:srgbClr val="D4A574"/>
                </a:solidFill>
                <a:latin typeface="Microsoft YaHei"/>
              </a:rPr>
              <a:t>一 刻 治 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0">
                <a:solidFill>
                  <a:srgbClr val="A4C3B2"/>
                </a:solidFill>
                <a:latin typeface="Microsoft YaHei"/>
              </a:rPr>
              <a:t>A dose of sound, a moment of cure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212080"/>
            <a:ext cx="1219169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F0E9D6"/>
                </a:solidFill>
                <a:latin typeface="Microsoft YaHei"/>
              </a:rPr>
              <a:t>一  味  ·  D O S E  ·  v 1 .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A4C3B2"/>
                </a:solidFill>
                <a:latin typeface="Microsoft YaHei"/>
              </a:rPr>
              <a:t>by  Damia  ·  腾讯音乐 AI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0">
                <a:solidFill>
                  <a:srgbClr val="D4A574"/>
                </a:solidFill>
                <a:latin typeface="Microsoft YaHei"/>
              </a:rPr>
              <a:t>github.com/Damia/yiwei-dose   ·   yiwei-dose.vercel.app</a:t>
            </a:r>
          </a:p>
        </p:txBody>
      </p:sp>
      <p:sp>
        <p:nvSpPr>
          <p:cNvPr id="9" name="Rounded Rectangle 8"/>
          <p:cNvSpPr/>
          <p:nvPr/>
        </p:nvSpPr>
        <p:spPr>
          <a:xfrm rot="21120000">
            <a:off x="10424160" y="5120640"/>
            <a:ext cx="1097280" cy="1097280"/>
          </a:xfrm>
          <a:prstGeom prst="roundRect">
            <a:avLst/>
          </a:prstGeom>
          <a:noFill/>
          <a:ln w="31750">
            <a:solidFill>
              <a:srgbClr val="A1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000" lIns="0" rIns="0"/>
          <a:lstStyle/>
          <a:p>
            <a:pPr algn="ctr"/>
            <a:r>
              <a:rPr sz="1600" b="1">
                <a:solidFill>
                  <a:srgbClr val="A13D2D"/>
                </a:solidFill>
                <a:latin typeface="Microsoft YaHei"/>
              </a:rPr>
              <a:t>一味</a:t>
            </a:r>
            <a:br/>
            <a:r>
              <a:rPr sz="1600" b="1">
                <a:solidFill>
                  <a:srgbClr val="A13D2D"/>
                </a:solidFill>
                <a:latin typeface="Microsoft YaHei"/>
              </a:rPr>
              <a:t>DOSE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